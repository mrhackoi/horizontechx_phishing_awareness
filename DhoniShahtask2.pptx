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67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Horizon TechX Phishing Awareness cover">
            <a:extLst>
              <a:ext uri="{FF2B5EF4-FFF2-40B4-BE49-F238E27FC236}">
                <a16:creationId xmlns:a16="http://schemas.microsoft.com/office/drawing/2014/main" id="{CBBB992A-A449-DA1D-23B7-45EFADA239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35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2800" b="1">
                <a:solidFill>
                  <a:srgbClr val="F2F7FF"/>
                </a:solidFill>
                <a:latin typeface="Aptos"/>
              </a:defRPr>
            </a:pPr>
            <a:r>
              <a:t>01  | 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300" b="0">
                <a:solidFill>
                  <a:srgbClr val="AABED4"/>
                </a:solidFill>
                <a:latin typeface="Aptos"/>
              </a:defRPr>
            </a:pPr>
            <a:r>
              <a:t>Why phishing awareness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64240" cy="22860"/>
          </a:xfrm>
          <a:prstGeom prst="rect">
            <a:avLst/>
          </a:prstGeom>
          <a:solidFill>
            <a:srgbClr val="009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900" b="0">
                <a:solidFill>
                  <a:srgbClr val="AABED4"/>
                </a:solidFill>
                <a:latin typeface="Aptos"/>
              </a:defRPr>
            </a:pPr>
            <a:r>
              <a:t>HORIZON TECHX  •  TASK 2                                     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5486400" cy="10972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2200" b="1">
                <a:solidFill>
                  <a:srgbClr val="F2F7FF"/>
                </a:solidFill>
                <a:latin typeface="Aptos"/>
              </a:defRPr>
            </a:pPr>
            <a:r>
              <a:t>Phishing is a common online trick that tries to make people reveal information, open unsafe files, or visit fake websites.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5120640" cy="2286000"/>
          </a:xfrm>
          <a:prstGeom prst="rect">
            <a:avLst/>
          </a:prstGeom>
          <a:noFill/>
        </p:spPr>
        <p:txBody>
          <a:bodyPr wrap="square" lIns="63500" tIns="50800" rIns="6350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2F7FF"/>
                </a:solidFill>
                <a:latin typeface="Aptos"/>
              </a:defRPr>
            </a:pPr>
            <a:r>
              <a:t>•  This training explains common warning signs.</a:t>
            </a:r>
          </a:p>
          <a:p>
            <a:pPr>
              <a:spcAft>
                <a:spcPts val="1200"/>
              </a:spcAft>
              <a:defRPr sz="1700">
                <a:solidFill>
                  <a:srgbClr val="F2F7FF"/>
                </a:solidFill>
                <a:latin typeface="Aptos"/>
              </a:defRPr>
            </a:pPr>
            <a:r>
              <a:t>•  You will learn simple ways to verify messages and links.</a:t>
            </a:r>
          </a:p>
          <a:p>
            <a:pPr>
              <a:spcAft>
                <a:spcPts val="1200"/>
              </a:spcAft>
              <a:defRPr sz="1700">
                <a:solidFill>
                  <a:srgbClr val="F2F7FF"/>
                </a:solidFill>
                <a:latin typeface="Aptos"/>
              </a:defRPr>
            </a:pPr>
            <a:r>
              <a:t>•  The goal is to pause, check, and report — not panic.</a:t>
            </a:r>
          </a:p>
        </p:txBody>
      </p:sp>
      <p:pic>
        <p:nvPicPr>
          <p:cNvPr id="10" name="Picture 9" descr="phishing phishing / a fish hook on computer keyboard with email sign / computer crime / data theft / cyber crime phishing stock pictures, royalty-free photos &amp; images">
            <a:extLst>
              <a:ext uri="{FF2B5EF4-FFF2-40B4-BE49-F238E27FC236}">
                <a16:creationId xmlns:a16="http://schemas.microsoft.com/office/drawing/2014/main" id="{BA7D9813-A37D-268B-C132-849986728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526537"/>
            <a:ext cx="5224929" cy="34798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2800" b="1">
                <a:solidFill>
                  <a:srgbClr val="F2F7FF"/>
                </a:solidFill>
                <a:latin typeface="Aptos"/>
              </a:defRPr>
            </a:pPr>
            <a:r>
              <a:t>02  |  What is phishing?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300" b="0">
                <a:solidFill>
                  <a:srgbClr val="AABED4"/>
                </a:solidFill>
                <a:latin typeface="Aptos"/>
              </a:defRPr>
            </a:pPr>
            <a:r>
              <a:t>A message or website impersonates something you trust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64240" cy="22860"/>
          </a:xfrm>
          <a:prstGeom prst="rect">
            <a:avLst/>
          </a:prstGeom>
          <a:solidFill>
            <a:srgbClr val="009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900" b="0">
                <a:solidFill>
                  <a:srgbClr val="AABED4"/>
                </a:solidFill>
                <a:latin typeface="Aptos"/>
              </a:defRPr>
            </a:pPr>
            <a:r>
              <a:t>HORIZON TECHX  •  TASK 2                                     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937760" cy="9601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2000" b="1">
                <a:solidFill>
                  <a:srgbClr val="F2F7FF"/>
                </a:solidFill>
                <a:latin typeface="Aptos"/>
              </a:defRPr>
            </a:pPr>
            <a:r>
              <a:t>Attackers may pretend to be a bank, delivery company, school, colleague, or online service.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5029200" cy="2286000"/>
          </a:xfrm>
          <a:prstGeom prst="rect">
            <a:avLst/>
          </a:prstGeom>
          <a:noFill/>
        </p:spPr>
        <p:txBody>
          <a:bodyPr wrap="square" lIns="63500" tIns="50800" rIns="6350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2F7FF"/>
                </a:solidFill>
                <a:latin typeface="Aptos"/>
              </a:defRPr>
            </a:pPr>
            <a:r>
              <a:t>•  They create urgency or fear to rush your decision.</a:t>
            </a:r>
          </a:p>
          <a:p>
            <a:pPr>
              <a:spcAft>
                <a:spcPts val="1200"/>
              </a:spcAft>
              <a:defRPr sz="1600">
                <a:solidFill>
                  <a:srgbClr val="F2F7FF"/>
                </a:solidFill>
                <a:latin typeface="Aptos"/>
              </a:defRPr>
            </a:pPr>
            <a:r>
              <a:t>•  They may ask for passwords, OTPs, payment, or personal data.</a:t>
            </a:r>
          </a:p>
          <a:p>
            <a:pPr>
              <a:spcAft>
                <a:spcPts val="1200"/>
              </a:spcAft>
              <a:defRPr sz="1600">
                <a:solidFill>
                  <a:srgbClr val="F2F7FF"/>
                </a:solidFill>
                <a:latin typeface="Aptos"/>
              </a:defRPr>
            </a:pPr>
            <a:r>
              <a:t>•  A familiar logo does not prove a message is genuine.</a:t>
            </a:r>
          </a:p>
        </p:txBody>
      </p:sp>
      <p:pic>
        <p:nvPicPr>
          <p:cNvPr id="11" name="Picture 10" descr="Phishing Protection Guide Entreprise | CyberSécurité.NC">
            <a:extLst>
              <a:ext uri="{FF2B5EF4-FFF2-40B4-BE49-F238E27FC236}">
                <a16:creationId xmlns:a16="http://schemas.microsoft.com/office/drawing/2014/main" id="{984639D6-4E7F-6C14-8399-2B3F920F0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6892" y="1357884"/>
            <a:ext cx="6805108" cy="38359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2800" b="1">
                <a:solidFill>
                  <a:srgbClr val="F2F7FF"/>
                </a:solidFill>
                <a:latin typeface="Aptos"/>
              </a:defRPr>
            </a:pPr>
            <a:r>
              <a:t>03  |  Common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300" b="0">
                <a:solidFill>
                  <a:srgbClr val="AABED4"/>
                </a:solidFill>
                <a:latin typeface="Aptos"/>
              </a:defRPr>
            </a:pPr>
            <a:r>
              <a:t>Phishing can arrive through different channels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64240" cy="22860"/>
          </a:xfrm>
          <a:prstGeom prst="rect">
            <a:avLst/>
          </a:prstGeom>
          <a:solidFill>
            <a:srgbClr val="009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900" b="0">
                <a:solidFill>
                  <a:srgbClr val="AABED4"/>
                </a:solidFill>
                <a:latin typeface="Aptos"/>
              </a:defRPr>
            </a:pPr>
            <a:r>
              <a:t>HORIZON TECHX  •  TASK 2                                    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1325880"/>
          </a:xfrm>
          <a:prstGeom prst="roundRect">
            <a:avLst/>
          </a:prstGeom>
          <a:solidFill>
            <a:srgbClr val="0F2339"/>
          </a:solidFill>
          <a:ln>
            <a:solidFill>
              <a:srgbClr val="009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792224"/>
            <a:ext cx="3054096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700" b="1">
                <a:solidFill>
                  <a:srgbClr val="0091F0"/>
                </a:solidFill>
                <a:latin typeface="Aptos"/>
              </a:defRPr>
            </a:pPr>
            <a:r>
              <a:t>Email phishing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76272"/>
            <a:ext cx="3054096" cy="704087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t>Fake account alerts, invoices, or password-reset messages.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1325880"/>
          </a:xfrm>
          <a:prstGeom prst="roundRect">
            <a:avLst/>
          </a:prstGeom>
          <a:solidFill>
            <a:srgbClr val="0F2339"/>
          </a:solidFill>
          <a:ln>
            <a:solidFill>
              <a:srgbClr val="FF5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792224"/>
            <a:ext cx="3054096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700" b="1">
                <a:solidFill>
                  <a:srgbClr val="FF505F"/>
                </a:solidFill>
                <a:latin typeface="Aptos"/>
              </a:defRPr>
            </a:pPr>
            <a:r>
              <a:t>Smishing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176272"/>
            <a:ext cx="3054096" cy="704087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t>Fraudulent SMS or chat messages with urgent links.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383280" cy="1325880"/>
          </a:xfrm>
          <a:prstGeom prst="roundRect">
            <a:avLst/>
          </a:prstGeom>
          <a:solidFill>
            <a:srgbClr val="0F2339"/>
          </a:solidFill>
          <a:ln>
            <a:solidFill>
              <a:srgbClr val="4B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11312" y="1792224"/>
            <a:ext cx="3054096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700" b="1">
                <a:solidFill>
                  <a:srgbClr val="4BC8FF"/>
                </a:solidFill>
                <a:latin typeface="Aptos"/>
              </a:defRPr>
            </a:pPr>
            <a:r>
              <a:t>Spear phishing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176272"/>
            <a:ext cx="3054096" cy="704087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t>A targeted message tailored to a specific person or team.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60720"/>
            <a:ext cx="1051560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500" b="0">
                <a:solidFill>
                  <a:srgbClr val="AABED4"/>
                </a:solidFill>
                <a:latin typeface="Aptos"/>
              </a:defRPr>
            </a:pPr>
            <a:r>
              <a:t>Other forms include voice phishing (vishing) and fake login pages.</a:t>
            </a:r>
          </a:p>
        </p:txBody>
      </p:sp>
      <p:pic>
        <p:nvPicPr>
          <p:cNvPr id="18" name="Picture 17" descr="emails going to spam">
            <a:extLst>
              <a:ext uri="{FF2B5EF4-FFF2-40B4-BE49-F238E27FC236}">
                <a16:creationId xmlns:a16="http://schemas.microsoft.com/office/drawing/2014/main" id="{65CBE936-1BA5-1E44-4A9A-F958E09D8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359" y="3219234"/>
            <a:ext cx="8622222" cy="24634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2800" b="1">
                <a:solidFill>
                  <a:srgbClr val="F2F7FF"/>
                </a:solidFill>
                <a:latin typeface="Aptos"/>
              </a:defRPr>
            </a:pPr>
            <a:r>
              <a:t>04  |  Warning signs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300" b="0">
                <a:solidFill>
                  <a:srgbClr val="AABED4"/>
                </a:solidFill>
                <a:latin typeface="Aptos"/>
              </a:defRPr>
            </a:pPr>
            <a:r>
              <a:t>Look for clues before taking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64240" cy="22860"/>
          </a:xfrm>
          <a:prstGeom prst="rect">
            <a:avLst/>
          </a:prstGeom>
          <a:solidFill>
            <a:srgbClr val="009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900" b="0">
                <a:solidFill>
                  <a:srgbClr val="AABED4"/>
                </a:solidFill>
                <a:latin typeface="Aptos"/>
              </a:defRPr>
            </a:pPr>
            <a:r>
              <a:t>HORIZON TECHX  •  TASK 2                                     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5486400" cy="4389120"/>
          </a:xfrm>
          <a:prstGeom prst="rect">
            <a:avLst/>
          </a:prstGeom>
          <a:noFill/>
        </p:spPr>
        <p:txBody>
          <a:bodyPr wrap="square" lIns="63500" tIns="50800" rIns="6350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2F7FF"/>
                </a:solidFill>
                <a:latin typeface="Aptos"/>
              </a:defRPr>
            </a:pPr>
            <a:r>
              <a:t>•  Unexpected urgency: “act now” or “your account will close.”</a:t>
            </a:r>
          </a:p>
          <a:p>
            <a:pPr>
              <a:spcAft>
                <a:spcPts val="1200"/>
              </a:spcAft>
              <a:defRPr sz="1700">
                <a:solidFill>
                  <a:srgbClr val="F2F7FF"/>
                </a:solidFill>
                <a:latin typeface="Aptos"/>
              </a:defRPr>
            </a:pPr>
            <a:r>
              <a:t>•  Sender address or domain does not match the real organization.</a:t>
            </a:r>
          </a:p>
          <a:p>
            <a:pPr>
              <a:spcAft>
                <a:spcPts val="1200"/>
              </a:spcAft>
              <a:defRPr sz="1700">
                <a:solidFill>
                  <a:srgbClr val="F2F7FF"/>
                </a:solidFill>
                <a:latin typeface="Aptos"/>
              </a:defRPr>
            </a:pPr>
            <a:r>
              <a:t>•  Unexpected attachments, shortened links, or unusual requests.</a:t>
            </a:r>
          </a:p>
          <a:p>
            <a:pPr>
              <a:spcAft>
                <a:spcPts val="1200"/>
              </a:spcAft>
              <a:defRPr sz="1700">
                <a:solidFill>
                  <a:srgbClr val="F2F7FF"/>
                </a:solidFill>
                <a:latin typeface="Aptos"/>
              </a:defRPr>
            </a:pPr>
            <a:r>
              <a:t>•  Spelling, grammar, greeting, or branding inconsistencies.</a:t>
            </a:r>
          </a:p>
          <a:p>
            <a:pPr>
              <a:spcAft>
                <a:spcPts val="1200"/>
              </a:spcAft>
              <a:defRPr sz="1700">
                <a:solidFill>
                  <a:srgbClr val="F2F7FF"/>
                </a:solidFill>
                <a:latin typeface="Aptos"/>
              </a:defRPr>
            </a:pPr>
            <a:r>
              <a:t>•  Requests for passwords, OTPs, gift cards, or secrecy.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4958" y="4977765"/>
            <a:ext cx="4846320" cy="7315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300" b="1">
                <a:solidFill>
                  <a:srgbClr val="4BC8FF"/>
                </a:solidFill>
                <a:latin typeface="Aptos"/>
              </a:defRPr>
            </a:pPr>
            <a:r>
              <a:t>One clue alone does not prove a message is malicious. Verify independently.</a:t>
            </a:r>
          </a:p>
        </p:txBody>
      </p:sp>
      <p:pic>
        <p:nvPicPr>
          <p:cNvPr id="10" name="Picture 9" descr="What Is Phishing? Protecting Yourself from Phishing Attacks">
            <a:extLst>
              <a:ext uri="{FF2B5EF4-FFF2-40B4-BE49-F238E27FC236}">
                <a16:creationId xmlns:a16="http://schemas.microsoft.com/office/drawing/2014/main" id="{3FEE0301-F15A-0BC5-11A4-46983ECC3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33906"/>
            <a:ext cx="5017638" cy="31181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2800" b="1">
                <a:solidFill>
                  <a:srgbClr val="F2F7FF"/>
                </a:solidFill>
                <a:latin typeface="Aptos"/>
              </a:defRPr>
            </a:pPr>
            <a:r>
              <a:t>05  |  Check links and websites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300" b="0">
                <a:solidFill>
                  <a:srgbClr val="AABED4"/>
                </a:solidFill>
                <a:latin typeface="Aptos"/>
              </a:defRPr>
            </a:pPr>
            <a:r>
              <a:t>Never trust a link just because it looks familiar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64240" cy="22860"/>
          </a:xfrm>
          <a:prstGeom prst="rect">
            <a:avLst/>
          </a:prstGeom>
          <a:solidFill>
            <a:srgbClr val="009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900" b="0">
                <a:solidFill>
                  <a:srgbClr val="AABED4"/>
                </a:solidFill>
                <a:latin typeface="Aptos"/>
              </a:defRPr>
            </a:pPr>
            <a:r>
              <a:t>HORIZON TECHX  •  TASK 2                                     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783080"/>
            <a:ext cx="4206240" cy="2405787"/>
          </a:xfrm>
          <a:prstGeom prst="rect">
            <a:avLst/>
          </a:prstGeom>
          <a:noFill/>
        </p:spPr>
        <p:txBody>
          <a:bodyPr wrap="square" lIns="63500" tIns="50800" rIns="63500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2F7FF"/>
                </a:solidFill>
                <a:latin typeface="Aptos"/>
              </a:defRPr>
            </a:pPr>
            <a:r>
              <a:t>•  Read the full domain carefully; watch for misspellings.</a:t>
            </a:r>
          </a:p>
          <a:p>
            <a:pPr>
              <a:spcAft>
                <a:spcPts val="1200"/>
              </a:spcAft>
              <a:defRPr sz="1500">
                <a:solidFill>
                  <a:srgbClr val="F2F7FF"/>
                </a:solidFill>
                <a:latin typeface="Aptos"/>
              </a:defRPr>
            </a:pPr>
            <a:r>
              <a:t>•  Do not use links in unexpected messages to sign in.</a:t>
            </a:r>
          </a:p>
          <a:p>
            <a:pPr>
              <a:spcAft>
                <a:spcPts val="1200"/>
              </a:spcAft>
              <a:defRPr sz="1500">
                <a:solidFill>
                  <a:srgbClr val="F2F7FF"/>
                </a:solidFill>
                <a:latin typeface="Aptos"/>
              </a:defRPr>
            </a:pPr>
            <a:r>
              <a:t>•  Open the official app or type a known address yourself.</a:t>
            </a:r>
          </a:p>
          <a:p>
            <a:pPr>
              <a:spcAft>
                <a:spcPts val="1200"/>
              </a:spcAft>
              <a:defRPr sz="1500">
                <a:solidFill>
                  <a:srgbClr val="F2F7FF"/>
                </a:solidFill>
                <a:latin typeface="Aptos"/>
              </a:defRPr>
            </a:pPr>
            <a:r>
              <a:t>•  A padlock/HTTPS means the connection is encrypted — not that the site is honest.</a:t>
            </a:r>
          </a:p>
        </p:txBody>
      </p:sp>
      <p:pic>
        <p:nvPicPr>
          <p:cNvPr id="10" name="Picture 9" descr="How Hackers Use &quot;Typosquatting&quot; to Trick You (and How to Spot It) | isMalicious Blog">
            <a:extLst>
              <a:ext uri="{FF2B5EF4-FFF2-40B4-BE49-F238E27FC236}">
                <a16:creationId xmlns:a16="http://schemas.microsoft.com/office/drawing/2014/main" id="{C139D8D6-493D-EE96-0978-476E17E8E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70251"/>
            <a:ext cx="5501640" cy="46376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2800" b="1">
                <a:solidFill>
                  <a:srgbClr val="F2F7FF"/>
                </a:solidFill>
                <a:latin typeface="Aptos"/>
              </a:defRPr>
            </a:pPr>
            <a:r>
              <a:t>06  |  Social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300" b="0">
                <a:solidFill>
                  <a:srgbClr val="AABED4"/>
                </a:solidFill>
                <a:latin typeface="Aptos"/>
              </a:defRPr>
            </a:pPr>
            <a:r>
              <a:t>Scammers often manipulate emotions, not just 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64240" cy="22860"/>
          </a:xfrm>
          <a:prstGeom prst="rect">
            <a:avLst/>
          </a:prstGeom>
          <a:solidFill>
            <a:srgbClr val="009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900" b="0">
                <a:solidFill>
                  <a:srgbClr val="AABED4"/>
                </a:solidFill>
                <a:latin typeface="Aptos"/>
              </a:defRPr>
            </a:pPr>
            <a:r>
              <a:t>HORIZON TECHX  •  TASK 2                                     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737360"/>
            <a:ext cx="4663440" cy="1143000"/>
          </a:xfrm>
          <a:prstGeom prst="roundRect">
            <a:avLst/>
          </a:prstGeom>
          <a:solidFill>
            <a:srgbClr val="0F2339"/>
          </a:solidFill>
          <a:ln>
            <a:solidFill>
              <a:srgbClr val="FF5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48272" y="1883664"/>
            <a:ext cx="4334255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700" b="1">
                <a:solidFill>
                  <a:srgbClr val="FF505F"/>
                </a:solidFill>
                <a:latin typeface="Aptos"/>
              </a:defRPr>
            </a:pPr>
            <a:r>
              <a:t>Urgency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2267712"/>
            <a:ext cx="4334255" cy="521207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t>“Do it now or lose access.”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108960"/>
            <a:ext cx="4663440" cy="1143000"/>
          </a:xfrm>
          <a:prstGeom prst="roundRect">
            <a:avLst/>
          </a:prstGeom>
          <a:solidFill>
            <a:srgbClr val="0F2339"/>
          </a:solidFill>
          <a:ln>
            <a:solidFill>
              <a:srgbClr val="4B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48272" y="3255264"/>
            <a:ext cx="4334255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700" b="1">
                <a:solidFill>
                  <a:srgbClr val="4BC8FF"/>
                </a:solidFill>
                <a:latin typeface="Aptos"/>
              </a:defRPr>
            </a:pPr>
            <a:r>
              <a:t>Authority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3639312"/>
            <a:ext cx="4334255" cy="521207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t>“I’m from IT / your bank.”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4480560"/>
            <a:ext cx="4663440" cy="1143000"/>
          </a:xfrm>
          <a:prstGeom prst="roundRect">
            <a:avLst/>
          </a:prstGeom>
          <a:solidFill>
            <a:srgbClr val="0F2339"/>
          </a:solidFill>
          <a:ln>
            <a:solidFill>
              <a:srgbClr val="009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48272" y="4626864"/>
            <a:ext cx="4334255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700" b="1">
                <a:solidFill>
                  <a:srgbClr val="0091F0"/>
                </a:solidFill>
                <a:latin typeface="Aptos"/>
              </a:defRPr>
            </a:pPr>
            <a:r>
              <a:t>Reward or fear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5010912"/>
            <a:ext cx="4334255" cy="521207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t>“Claim a prize” or “avoid a penalty.”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57800"/>
            <a:ext cx="530352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600" b="1">
                <a:solidFill>
                  <a:srgbClr val="37D29B"/>
                </a:solidFill>
                <a:latin typeface="Aptos"/>
              </a:defRPr>
            </a:pPr>
            <a:r>
              <a:t>Pause and confirm through a separate, trusted channel.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6F786EE-568A-D95F-C9B8-E3E306870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320" y="1466575"/>
            <a:ext cx="4860001" cy="36459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2800" b="1">
                <a:solidFill>
                  <a:srgbClr val="F2F7FF"/>
                </a:solidFill>
                <a:latin typeface="Aptos"/>
              </a:defRPr>
            </a:pPr>
            <a:r>
              <a:t>07  |  How to protect yourself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300" b="0">
                <a:solidFill>
                  <a:srgbClr val="AABED4"/>
                </a:solidFill>
                <a:latin typeface="Aptos"/>
              </a:defRPr>
            </a:pPr>
            <a:r>
              <a:t>Build habits that reduce the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64240" cy="22860"/>
          </a:xfrm>
          <a:prstGeom prst="rect">
            <a:avLst/>
          </a:prstGeom>
          <a:solidFill>
            <a:srgbClr val="009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900" b="0">
                <a:solidFill>
                  <a:srgbClr val="AABED4"/>
                </a:solidFill>
                <a:latin typeface="Aptos"/>
              </a:defRPr>
            </a:pPr>
            <a:r>
              <a:t>HORIZON TECHX  •  TASK 2                                     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486400" cy="4297680"/>
          </a:xfrm>
          <a:prstGeom prst="rect">
            <a:avLst/>
          </a:prstGeom>
          <a:noFill/>
        </p:spPr>
        <p:txBody>
          <a:bodyPr wrap="square" lIns="63500" tIns="50800" rIns="6350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2F7FF"/>
                </a:solidFill>
                <a:latin typeface="Aptos"/>
              </a:defRPr>
            </a:pPr>
            <a:r>
              <a:t>•  Use unique, strong passwords and a password manager.</a:t>
            </a:r>
          </a:p>
          <a:p>
            <a:pPr>
              <a:spcAft>
                <a:spcPts val="1200"/>
              </a:spcAft>
              <a:defRPr sz="1600">
                <a:solidFill>
                  <a:srgbClr val="F2F7FF"/>
                </a:solidFill>
                <a:latin typeface="Aptos"/>
              </a:defRPr>
            </a:pPr>
            <a:r>
              <a:t>•  Enable multi-factor authentication (MFA) where available.</a:t>
            </a:r>
          </a:p>
          <a:p>
            <a:pPr>
              <a:spcAft>
                <a:spcPts val="1200"/>
              </a:spcAft>
              <a:defRPr sz="1600">
                <a:solidFill>
                  <a:srgbClr val="F2F7FF"/>
                </a:solidFill>
                <a:latin typeface="Aptos"/>
              </a:defRPr>
            </a:pPr>
            <a:r>
              <a:t>•  Keep your device, browser, and apps updated.</a:t>
            </a:r>
          </a:p>
          <a:p>
            <a:pPr>
              <a:spcAft>
                <a:spcPts val="1200"/>
              </a:spcAft>
              <a:defRPr sz="1600">
                <a:solidFill>
                  <a:srgbClr val="F2F7FF"/>
                </a:solidFill>
                <a:latin typeface="Aptos"/>
              </a:defRPr>
            </a:pPr>
            <a:r>
              <a:t>•  Verify unusual payment or data requests using a known number or contact.</a:t>
            </a:r>
          </a:p>
          <a:p>
            <a:pPr>
              <a:spcAft>
                <a:spcPts val="1200"/>
              </a:spcAft>
              <a:defRPr sz="1600">
                <a:solidFill>
                  <a:srgbClr val="F2F7FF"/>
                </a:solidFill>
                <a:latin typeface="Aptos"/>
              </a:defRPr>
            </a:pPr>
            <a:r>
              <a:t>•  Never share OTPs or passwords in response to a message.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715000"/>
            <a:ext cx="475488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200" b="1">
                <a:solidFill>
                  <a:srgbClr val="4BC8FF"/>
                </a:solidFill>
                <a:latin typeface="Aptos"/>
              </a:defRPr>
            </a:pPr>
            <a:r>
              <a:t>MFA adds another layer of protection, but still verify unexpected prompts.</a:t>
            </a:r>
          </a:p>
        </p:txBody>
      </p:sp>
      <p:pic>
        <p:nvPicPr>
          <p:cNvPr id="11" name="Picture 10" descr="Cybersecurity Shield Protects Digital Data Network Security Concept 71777664 Stock Photo at Vecteezy">
            <a:extLst>
              <a:ext uri="{FF2B5EF4-FFF2-40B4-BE49-F238E27FC236}">
                <a16:creationId xmlns:a16="http://schemas.microsoft.com/office/drawing/2014/main" id="{8DDECC27-E960-F614-42A4-5088056F4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53312"/>
            <a:ext cx="5081754" cy="2768110"/>
          </a:xfrm>
          <a:prstGeom prst="rect">
            <a:avLst/>
          </a:prstGeom>
        </p:spPr>
      </p:pic>
      <p:pic>
        <p:nvPicPr>
          <p:cNvPr id="12" name="Picture 11" descr="What is Multi-Factor Authentication? » Strengthen Login Security">
            <a:extLst>
              <a:ext uri="{FF2B5EF4-FFF2-40B4-BE49-F238E27FC236}">
                <a16:creationId xmlns:a16="http://schemas.microsoft.com/office/drawing/2014/main" id="{ABFAE34F-E4C5-D8FF-9577-6BAE742CE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497" y="4256031"/>
            <a:ext cx="4862456" cy="24190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2800" b="1">
                <a:solidFill>
                  <a:srgbClr val="F2F7FF"/>
                </a:solidFill>
                <a:latin typeface="Aptos"/>
              </a:defRPr>
            </a:pPr>
            <a:r>
              <a:t>08  |  If you receive a suspicious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300" b="0">
                <a:solidFill>
                  <a:srgbClr val="AABED4"/>
                </a:solidFill>
                <a:latin typeface="Aptos"/>
              </a:defRPr>
            </a:pPr>
            <a:r>
              <a:t>A safe response is simple and repeatable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64240" cy="22860"/>
          </a:xfrm>
          <a:prstGeom prst="rect">
            <a:avLst/>
          </a:prstGeom>
          <a:solidFill>
            <a:srgbClr val="009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900" b="0">
                <a:solidFill>
                  <a:srgbClr val="AABED4"/>
                </a:solidFill>
                <a:latin typeface="Aptos"/>
              </a:defRPr>
            </a:pPr>
            <a:r>
              <a:t>HORIZON TECHX  •  TASK 2                                     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2807" y="1645920"/>
            <a:ext cx="5120640" cy="4389120"/>
          </a:xfrm>
          <a:prstGeom prst="rect">
            <a:avLst/>
          </a:prstGeom>
          <a:noFill/>
        </p:spPr>
        <p:txBody>
          <a:bodyPr wrap="square" lIns="63500" tIns="50800" rIns="6350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2F7FF"/>
                </a:solidFill>
                <a:latin typeface="Aptos"/>
              </a:defRPr>
            </a:pPr>
            <a:r>
              <a:t>•  Do not click links, open attachments, or reply.</a:t>
            </a:r>
          </a:p>
          <a:p>
            <a:pPr>
              <a:spcAft>
                <a:spcPts val="1200"/>
              </a:spcAft>
              <a:defRPr sz="1400">
                <a:solidFill>
                  <a:srgbClr val="F2F7FF"/>
                </a:solidFill>
                <a:latin typeface="Aptos"/>
              </a:defRPr>
            </a:pPr>
            <a:r>
              <a:t>•  Report it using your email provider’s or organization’s process.</a:t>
            </a:r>
          </a:p>
          <a:p>
            <a:pPr>
              <a:spcAft>
                <a:spcPts val="1200"/>
              </a:spcAft>
              <a:defRPr sz="1400">
                <a:solidFill>
                  <a:srgbClr val="F2F7FF"/>
                </a:solidFill>
                <a:latin typeface="Aptos"/>
              </a:defRPr>
            </a:pPr>
            <a:r>
              <a:t>•  If you already clicked or shared details, tell IT/support promptly and change affected passwords from the official site.</a:t>
            </a:r>
          </a:p>
          <a:p>
            <a:pPr>
              <a:spcAft>
                <a:spcPts val="1200"/>
              </a:spcAft>
              <a:defRPr sz="1400">
                <a:solidFill>
                  <a:srgbClr val="F2F7FF"/>
                </a:solidFill>
                <a:latin typeface="Aptos"/>
              </a:defRPr>
            </a:pPr>
            <a:r>
              <a:t>•  If money or sensitive data is involved, contact the relevant institution quickly.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06440"/>
            <a:ext cx="1078992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100" b="0">
                <a:solidFill>
                  <a:srgbClr val="AABED4"/>
                </a:solidFill>
                <a:latin typeface="Aptos"/>
              </a:defRPr>
            </a:pPr>
            <a:r>
              <a:t>Do not forward suspicious messages to others except through approved reporting channels.</a:t>
            </a:r>
          </a:p>
        </p:txBody>
      </p:sp>
      <p:pic>
        <p:nvPicPr>
          <p:cNvPr id="11" name="Picture 10" descr="Phishing Email Examples: How to Spot and Avoid Online Scams - AstrillVPN Blog">
            <a:extLst>
              <a:ext uri="{FF2B5EF4-FFF2-40B4-BE49-F238E27FC236}">
                <a16:creationId xmlns:a16="http://schemas.microsoft.com/office/drawing/2014/main" id="{B0D68C82-4550-6379-B7E2-750C07677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62" y="1645920"/>
            <a:ext cx="5698018" cy="33336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2800" b="1">
                <a:solidFill>
                  <a:srgbClr val="F2F7FF"/>
                </a:solidFill>
                <a:latin typeface="Aptos"/>
              </a:defRPr>
            </a:pPr>
            <a:r>
              <a:t>09  |  Quick knowledge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300" b="0">
                <a:solidFill>
                  <a:srgbClr val="AABED4"/>
                </a:solidFill>
                <a:latin typeface="Aptos"/>
              </a:defRPr>
            </a:pPr>
            <a:r>
              <a:t>Think about what you would do in each situation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64240" cy="22860"/>
          </a:xfrm>
          <a:prstGeom prst="rect">
            <a:avLst/>
          </a:prstGeom>
          <a:solidFill>
            <a:srgbClr val="009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900" b="0">
                <a:solidFill>
                  <a:srgbClr val="AABED4"/>
                </a:solidFill>
                <a:latin typeface="Aptos"/>
              </a:defRPr>
            </a:pPr>
            <a:r>
              <a:t>HORIZON TECHX  •  TASK 2                                    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74720" cy="1920240"/>
          </a:xfrm>
          <a:prstGeom prst="roundRect">
            <a:avLst/>
          </a:prstGeom>
          <a:solidFill>
            <a:srgbClr val="0F2339"/>
          </a:solidFill>
          <a:ln>
            <a:solidFill>
              <a:srgbClr val="4B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792224"/>
            <a:ext cx="3145536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700" b="1">
                <a:solidFill>
                  <a:srgbClr val="4BC8FF"/>
                </a:solidFill>
                <a:latin typeface="Aptos"/>
              </a:defRPr>
            </a:pPr>
            <a:r>
              <a:t>Question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76272"/>
            <a:ext cx="3145536" cy="129844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t>A delivery SMS asks you to pay through an unexpected link. What is safest?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74720" cy="1920240"/>
          </a:xfrm>
          <a:prstGeom prst="roundRect">
            <a:avLst/>
          </a:prstGeom>
          <a:solidFill>
            <a:srgbClr val="0F2339"/>
          </a:solidFill>
          <a:ln>
            <a:solidFill>
              <a:srgbClr val="FF5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792224"/>
            <a:ext cx="3145536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700" b="1">
                <a:solidFill>
                  <a:srgbClr val="FF505F"/>
                </a:solidFill>
                <a:latin typeface="Aptos"/>
              </a:defRPr>
            </a:pPr>
            <a:r>
              <a:t>Question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176272"/>
            <a:ext cx="3145536" cy="129844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t>A message says your account closes in 10 minutes. What should you check?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74720" cy="1920240"/>
          </a:xfrm>
          <a:prstGeom prst="roundRect">
            <a:avLst/>
          </a:prstGeom>
          <a:solidFill>
            <a:srgbClr val="0F2339"/>
          </a:solidFill>
          <a:ln>
            <a:solidFill>
              <a:srgbClr val="009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11312" y="1792224"/>
            <a:ext cx="3145536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700" b="1">
                <a:solidFill>
                  <a:srgbClr val="0091F0"/>
                </a:solidFill>
                <a:latin typeface="Aptos"/>
              </a:defRPr>
            </a:pPr>
            <a:r>
              <a:t>Question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176272"/>
            <a:ext cx="3145536" cy="129844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300" b="0">
                <a:solidFill>
                  <a:srgbClr val="F2F7FF"/>
                </a:solidFill>
                <a:latin typeface="Aptos"/>
              </a:defRPr>
            </a:pPr>
            <a:r>
              <a:t>You clicked a suspicious link and entered a password. What next?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60520"/>
            <a:ext cx="10607040" cy="13258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600" b="1">
                <a:solidFill>
                  <a:srgbClr val="F2F7FF"/>
                </a:solidFill>
                <a:latin typeface="Aptos"/>
              </a:defRPr>
            </a:pPr>
            <a:r>
              <a:t>Answers: 1) Don’t use the link; check through the official delivery app/site.  2) Verify the sender and contact the service independently.  3) Change the password from the official site, enable MFA, and alert IT/support if applicable.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15000"/>
            <a:ext cx="1060704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defRPr sz="2100" b="1">
                <a:solidFill>
                  <a:srgbClr val="37D29B"/>
                </a:solidFill>
                <a:latin typeface="Aptos"/>
              </a:defRPr>
            </a:pPr>
            <a:r>
              <a:t>Pause • Verify • 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9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2800" b="1">
                <a:solidFill>
                  <a:srgbClr val="F2F7FF"/>
                </a:solidFill>
                <a:latin typeface="Aptos"/>
              </a:defRPr>
            </a:pPr>
            <a:r>
              <a:t>10  | 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300" b="0">
                <a:solidFill>
                  <a:srgbClr val="AABED4"/>
                </a:solidFill>
                <a:latin typeface="Aptos"/>
              </a:defRPr>
            </a:pPr>
            <a:r>
              <a:t>Awareness is one of the strongest first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1064240" cy="22860"/>
          </a:xfrm>
          <a:prstGeom prst="rect">
            <a:avLst/>
          </a:prstGeom>
          <a:solidFill>
            <a:srgbClr val="009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900" b="0">
                <a:solidFill>
                  <a:srgbClr val="AABED4"/>
                </a:solidFill>
                <a:latin typeface="Aptos"/>
              </a:defRPr>
            </a:pPr>
            <a:r>
              <a:t>HORIZON TECHX  •  TASK 2                                     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783080"/>
            <a:ext cx="502920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2200" b="1">
                <a:solidFill>
                  <a:srgbClr val="4BC8FF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423160"/>
            <a:ext cx="5577840" cy="2651760"/>
          </a:xfrm>
          <a:prstGeom prst="rect">
            <a:avLst/>
          </a:prstGeom>
          <a:noFill/>
        </p:spPr>
        <p:txBody>
          <a:bodyPr wrap="square" lIns="63500" tIns="50800" rIns="6350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2F7FF"/>
                </a:solidFill>
                <a:latin typeface="Aptos"/>
              </a:defRPr>
            </a:pPr>
            <a:r>
              <a:t>•  Slow down when a message pressures you.</a:t>
            </a:r>
          </a:p>
          <a:p>
            <a:pPr>
              <a:spcAft>
                <a:spcPts val="1200"/>
              </a:spcAft>
              <a:defRPr sz="1700">
                <a:solidFill>
                  <a:srgbClr val="F2F7FF"/>
                </a:solidFill>
                <a:latin typeface="Aptos"/>
              </a:defRPr>
            </a:pPr>
            <a:r>
              <a:t>•  Check the sender, domain, and request independently.</a:t>
            </a:r>
          </a:p>
          <a:p>
            <a:pPr>
              <a:spcAft>
                <a:spcPts val="1200"/>
              </a:spcAft>
              <a:defRPr sz="1700">
                <a:solidFill>
                  <a:srgbClr val="F2F7FF"/>
                </a:solidFill>
                <a:latin typeface="Aptos"/>
              </a:defRPr>
            </a:pPr>
            <a:r>
              <a:t>•  Protect accounts with unique passwords and MFA.</a:t>
            </a:r>
          </a:p>
          <a:p>
            <a:pPr>
              <a:spcAft>
                <a:spcPts val="1200"/>
              </a:spcAft>
              <a:defRPr sz="1700">
                <a:solidFill>
                  <a:srgbClr val="F2F7FF"/>
                </a:solidFill>
                <a:latin typeface="Aptos"/>
              </a:defRPr>
            </a:pPr>
            <a:r>
              <a:t>•  Report suspicious messages and ask for help quickly.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1042416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defRPr sz="1500" b="1">
                <a:solidFill>
                  <a:srgbClr val="F2F7FF"/>
                </a:solidFill>
                <a:latin typeface="Aptos"/>
              </a:defRPr>
            </a:pPr>
            <a:r>
              <a:t>Thank you  |  Horizon TechX — Task 2: Phishing Awareness Training</a:t>
            </a:r>
          </a:p>
        </p:txBody>
      </p:sp>
      <p:pic>
        <p:nvPicPr>
          <p:cNvPr id="11" name="Picture 10" descr="Phishing Attacks Demystified: Comprehensive Guide To Spear Phishing Defense - PhishProtection.com">
            <a:extLst>
              <a:ext uri="{FF2B5EF4-FFF2-40B4-BE49-F238E27FC236}">
                <a16:creationId xmlns:a16="http://schemas.microsoft.com/office/drawing/2014/main" id="{937A1939-101C-30B4-05C1-2C8EF2745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76" y="1609344"/>
            <a:ext cx="5037975" cy="33586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817</Words>
  <Application>Microsoft Office PowerPoint</Application>
  <PresentationFormat>Widescreen</PresentationFormat>
  <Paragraphs>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Mr Coder</cp:lastModifiedBy>
  <cp:revision>5</cp:revision>
  <dcterms:created xsi:type="dcterms:W3CDTF">2013-01-27T09:14:16Z</dcterms:created>
  <dcterms:modified xsi:type="dcterms:W3CDTF">2026-10-21T08:59:31Z</dcterms:modified>
  <cp:category/>
</cp:coreProperties>
</file>